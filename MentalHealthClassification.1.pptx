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334155"/>
                </a:solidFill>
                <a:latin typeface="Arial"/>
              </a:defRPr>
            </a:pPr>
            <a:r>
              <a:rPr sz="1300" b="0" i="0" u="none" strike="noStrike">
                <a:solidFill>
                  <a:srgbClr val="334155"/>
                </a:solidFill>
                <a:latin typeface="Arial"/>
              </a:rPr>
              <a:t>Class Distribution (Near-Perfect Balance)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Posts</c:v>
                </c:pt>
              </c:strCache>
            </c:strRef>
          </c:tx>
          <c:spPr>
            <a:solidFill>
              <a:srgbClr val="1B6CA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4B3-46AC-B684-5B4133881852}"/>
              </c:ext>
            </c:extLst>
          </c:dPt>
          <c:dPt>
            <c:idx val="1"/>
            <c:invertIfNegative val="0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4B3-46AC-B684-5B4133881852}"/>
              </c:ext>
            </c:extLst>
          </c:dPt>
          <c:dPt>
            <c:idx val="2"/>
            <c:invertIfNegative val="0"/>
            <c:bubble3D val="0"/>
            <c:spPr>
              <a:solidFill>
                <a:srgbClr val="8E44A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4B3-46AC-B684-5B4133881852}"/>
              </c:ext>
            </c:extLst>
          </c:dPt>
          <c:dPt>
            <c:idx val="3"/>
            <c:invertIfNegative val="0"/>
            <c:bubble3D val="0"/>
            <c:spPr>
              <a:solidFill>
                <a:srgbClr val="16A08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74B3-46AC-B684-5B4133881852}"/>
              </c:ext>
            </c:extLst>
          </c:dPt>
          <c:dPt>
            <c:idx val="4"/>
            <c:invertIfNegative val="0"/>
            <c:bubble3D val="0"/>
            <c:spPr>
              <a:solidFill>
                <a:srgbClr val="D354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74B3-46AC-B684-5B4133881852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Class 0
Stress</c:v>
                </c:pt>
                <c:pt idx="1">
                  <c:v>Class 1
Depression</c:v>
                </c:pt>
                <c:pt idx="2">
                  <c:v>Class 2
Bipolar</c:v>
                </c:pt>
                <c:pt idx="3">
                  <c:v>Class 3
Pers. Dis.</c:v>
                </c:pt>
                <c:pt idx="4">
                  <c:v>Class 4
Anxiety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1181</c:v>
                </c:pt>
                <c:pt idx="1">
                  <c:v>1202</c:v>
                </c:pt>
                <c:pt idx="2">
                  <c:v>1185</c:v>
                </c:pt>
                <c:pt idx="3">
                  <c:v>1201</c:v>
                </c:pt>
                <c:pt idx="4">
                  <c:v>1188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74B3-46AC-B684-5B413388185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24495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0"/>
            <a:ext cx="201168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" name="Shape 2"/>
          <p:cNvSpPr/>
          <p:nvPr/>
        </p:nvSpPr>
        <p:spPr>
          <a:xfrm>
            <a:off x="7680960" y="1097280"/>
            <a:ext cx="1463040" cy="2926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Shape 3"/>
          <p:cNvSpPr/>
          <p:nvPr/>
        </p:nvSpPr>
        <p:spPr>
          <a:xfrm>
            <a:off x="7863840" y="1645920"/>
            <a:ext cx="914400" cy="9144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97280"/>
            <a:ext cx="6400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Health Status</a:t>
            </a:r>
            <a:endParaRPr lang="en-US" sz="3400" dirty="0"/>
          </a:p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from</a:t>
            </a:r>
            <a:endParaRPr lang="en-US" sz="3400" dirty="0"/>
          </a:p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Text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40080" y="28346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A0C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NLP Pipeline: Reddit Post Classification into 5 Mental Health Categories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41148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Hiba Fathima •  Manasa Muraleedharan E •  Aleena V J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155448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1554480" cy="320040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972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" y="1444752"/>
            <a:ext cx="1554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😰 Stress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993392" y="1097280"/>
            <a:ext cx="155448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993392" y="1097280"/>
            <a:ext cx="1554480" cy="3200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1993392" y="10972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993392" y="1444752"/>
            <a:ext cx="1554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😞 Depression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712464" y="1097280"/>
            <a:ext cx="155448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712464" y="1097280"/>
            <a:ext cx="1554480" cy="32004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14" name="Text 12"/>
          <p:cNvSpPr/>
          <p:nvPr/>
        </p:nvSpPr>
        <p:spPr>
          <a:xfrm>
            <a:off x="3712464" y="10972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712464" y="1444752"/>
            <a:ext cx="1554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Bipolar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31536" y="1097280"/>
            <a:ext cx="155448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31536" y="1097280"/>
            <a:ext cx="1554480" cy="32004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18" name="Text 16"/>
          <p:cNvSpPr/>
          <p:nvPr/>
        </p:nvSpPr>
        <p:spPr>
          <a:xfrm>
            <a:off x="5431536" y="10972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31536" y="1444752"/>
            <a:ext cx="1554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🙈 Personality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Disorder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150608" y="1097280"/>
            <a:ext cx="155448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150608" y="1097280"/>
            <a:ext cx="1554480" cy="320040"/>
          </a:xfrm>
          <a:prstGeom prst="rect">
            <a:avLst/>
          </a:prstGeom>
          <a:solidFill>
            <a:srgbClr val="D35400"/>
          </a:solidFill>
          <a:ln/>
        </p:spPr>
      </p:sp>
      <p:sp>
        <p:nvSpPr>
          <p:cNvPr id="22" name="Text 20"/>
          <p:cNvSpPr/>
          <p:nvPr/>
        </p:nvSpPr>
        <p:spPr>
          <a:xfrm>
            <a:off x="7150608" y="10972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150608" y="1444752"/>
            <a:ext cx="1554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😨 Anxiety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2926080"/>
            <a:ext cx="1828800" cy="1645920"/>
          </a:xfrm>
          <a:prstGeom prst="rect">
            <a:avLst/>
          </a:prstGeom>
          <a:solidFill>
            <a:srgbClr val="0D1B2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57200" y="30175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5,957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57200" y="37947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C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Reddit Posts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560320" y="2926080"/>
            <a:ext cx="1828800" cy="1645920"/>
          </a:xfrm>
          <a:prstGeom prst="rect">
            <a:avLst/>
          </a:prstGeom>
          <a:solidFill>
            <a:srgbClr val="0D1B2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2560320" y="30175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2560320" y="37947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C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Health Classes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63440" y="2926080"/>
            <a:ext cx="1828800" cy="1645920"/>
          </a:xfrm>
          <a:prstGeom prst="rect">
            <a:avLst/>
          </a:prstGeom>
          <a:solidFill>
            <a:srgbClr val="0D1B2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663440" y="30175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~Balanced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4663440" y="37947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C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Distribution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766560" y="2926080"/>
            <a:ext cx="1828800" cy="1645920"/>
          </a:xfrm>
          <a:prstGeom prst="rect">
            <a:avLst/>
          </a:prstGeom>
          <a:solidFill>
            <a:srgbClr val="0D1B2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766560" y="30175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81.3%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6766560" y="37947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C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Accuracy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9-Stage Project Pipeline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27432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411480" cy="10972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51560"/>
            <a:ext cx="411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051560"/>
            <a:ext cx="224028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Definition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1709928"/>
            <a:ext cx="224028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051560"/>
            <a:ext cx="27432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051560"/>
            <a:ext cx="411480" cy="10972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3246120" y="1051560"/>
            <a:ext cx="411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703320" y="1051560"/>
            <a:ext cx="224028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703320" y="1709928"/>
            <a:ext cx="224028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1051560"/>
            <a:ext cx="27432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051560"/>
            <a:ext cx="411480" cy="10972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1051560"/>
            <a:ext cx="411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675120" y="1051560"/>
            <a:ext cx="224028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75120" y="1709928"/>
            <a:ext cx="224028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377440"/>
            <a:ext cx="27432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377440"/>
            <a:ext cx="411480" cy="1097280"/>
          </a:xfrm>
          <a:prstGeom prst="rect">
            <a:avLst/>
          </a:prstGeom>
          <a:solidFill>
            <a:srgbClr val="7B3F9E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2377440"/>
            <a:ext cx="411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31520" y="2377440"/>
            <a:ext cx="224028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1520" y="3035808"/>
            <a:ext cx="224028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Manasa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46120" y="2377440"/>
            <a:ext cx="27432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46120" y="2377440"/>
            <a:ext cx="411480" cy="1097280"/>
          </a:xfrm>
          <a:prstGeom prst="rect">
            <a:avLst/>
          </a:prstGeom>
          <a:solidFill>
            <a:srgbClr val="7B3F9E"/>
          </a:solidFill>
          <a:ln/>
        </p:spPr>
      </p:sp>
      <p:sp>
        <p:nvSpPr>
          <p:cNvPr id="26" name="Text 24"/>
          <p:cNvSpPr/>
          <p:nvPr/>
        </p:nvSpPr>
        <p:spPr>
          <a:xfrm>
            <a:off x="3246120" y="2377440"/>
            <a:ext cx="411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703320" y="2377440"/>
            <a:ext cx="224028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703320" y="3035808"/>
            <a:ext cx="224028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Manasa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17920" y="2377440"/>
            <a:ext cx="27432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17920" y="2377440"/>
            <a:ext cx="411480" cy="1097280"/>
          </a:xfrm>
          <a:prstGeom prst="rect">
            <a:avLst/>
          </a:prstGeom>
          <a:solidFill>
            <a:srgbClr val="7B3F9E"/>
          </a:solidFill>
          <a:ln/>
        </p:spPr>
      </p:sp>
      <p:sp>
        <p:nvSpPr>
          <p:cNvPr id="31" name="Text 29"/>
          <p:cNvSpPr/>
          <p:nvPr/>
        </p:nvSpPr>
        <p:spPr>
          <a:xfrm>
            <a:off x="6217920" y="2377440"/>
            <a:ext cx="411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675120" y="2377440"/>
            <a:ext cx="224028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Development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675120" y="3035808"/>
            <a:ext cx="224028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Manasa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3703320"/>
            <a:ext cx="27432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74320" y="3703320"/>
            <a:ext cx="411480" cy="10972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6" name="Text 34"/>
          <p:cNvSpPr/>
          <p:nvPr/>
        </p:nvSpPr>
        <p:spPr>
          <a:xfrm>
            <a:off x="274320" y="3703320"/>
            <a:ext cx="411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31520" y="3703320"/>
            <a:ext cx="224028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31520" y="4361688"/>
            <a:ext cx="224028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Aleena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246120" y="3703320"/>
            <a:ext cx="27432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246120" y="3703320"/>
            <a:ext cx="411480" cy="10972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1" name="Text 39"/>
          <p:cNvSpPr/>
          <p:nvPr/>
        </p:nvSpPr>
        <p:spPr>
          <a:xfrm>
            <a:off x="3246120" y="3703320"/>
            <a:ext cx="411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3703320" y="3703320"/>
            <a:ext cx="224028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3703320" y="4361688"/>
            <a:ext cx="224028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Aleena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217920" y="3703320"/>
            <a:ext cx="27432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217920" y="3703320"/>
            <a:ext cx="411480" cy="10972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6" name="Text 44"/>
          <p:cNvSpPr/>
          <p:nvPr/>
        </p:nvSpPr>
        <p:spPr>
          <a:xfrm>
            <a:off x="6217920" y="3703320"/>
            <a:ext cx="411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675120" y="3703320"/>
            <a:ext cx="224028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6675120" y="4361688"/>
            <a:ext cx="224028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Aleena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1: Problem Definition &amp; Literature Review  (Hiba)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11480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515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4114800" cy="36576"/>
          </a:xfrm>
          <a:prstGeom prst="rect">
            <a:avLst/>
          </a:prstGeom>
          <a:solidFill>
            <a:srgbClr val="E0F2F4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600200"/>
            <a:ext cx="37490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automate mental health classification from Reddit posts using NLP &amp; ML?
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Early detection → timely intervention
• AI supports (not replaces) clinicians
• Informs public health policy
• Reduces stigma barriers to help
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051560"/>
            <a:ext cx="4206240" cy="3749040"/>
          </a:xfrm>
          <a:prstGeom prst="rect">
            <a:avLst/>
          </a:prstGeom>
          <a:solidFill>
            <a:srgbClr val="0D1B2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63440" y="10515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Literature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0" y="1645920"/>
            <a:ext cx="38404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0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Gkotsis et al. (2016) — Reddit classification
Coppersmith et al. (2015) — Twitter mental health
Devlin et al. (2019) — BERT pre-training
Ji et al. (2022) — Mental-BERT/RoBERTa
Tadesse et al. (2019) — LIWC + ML
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2: Data Collection &amp; Understanding  (Hiba)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1051560"/>
          <a:ext cx="50292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577840" y="1097280"/>
            <a:ext cx="329184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669280" y="109728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903720" y="109728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Reddit mental health subreddits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577840" y="1755648"/>
            <a:ext cx="3291840" cy="566928"/>
          </a:xfrm>
          <a:prstGeom prst="rect">
            <a:avLst/>
          </a:prstGeom>
          <a:solidFill>
            <a:srgbClr val="E0F2F4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669280" y="175564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Records: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903720" y="175564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5,957 posts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577840" y="2414016"/>
            <a:ext cx="329184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669280" y="2414016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Text: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903720" y="2414016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 (5.9%) — title-only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577840" y="3072384"/>
            <a:ext cx="3291840" cy="566928"/>
          </a:xfrm>
          <a:prstGeom prst="rect">
            <a:avLst/>
          </a:prstGeom>
          <a:solidFill>
            <a:srgbClr val="E0F2F4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669280" y="3072384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Language: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903720" y="3072384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577840" y="3730752"/>
            <a:ext cx="329184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669280" y="3730752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Post Length: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903720" y="373075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~148 words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577840" y="4389120"/>
            <a:ext cx="3291840" cy="566928"/>
          </a:xfrm>
          <a:prstGeom prst="rect">
            <a:avLst/>
          </a:prstGeom>
          <a:solidFill>
            <a:srgbClr val="E0F2F4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5669280" y="438912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Balance: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903720" y="438912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19.8% – 20.2% (no resampling needed)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3: Preprocessing &amp; Cleaning  (Hiba)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11480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" y="1197864"/>
            <a:ext cx="347472" cy="34747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347472" y="11978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051560"/>
            <a:ext cx="347472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Handling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1380744"/>
            <a:ext cx="347472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as fallback for 350 null text records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810512"/>
            <a:ext cx="411480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" y="1956816"/>
            <a:ext cx="347472" cy="34747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19568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1810512"/>
            <a:ext cx="347472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Removal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2139696"/>
            <a:ext cx="347472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344 posts with hyperlinks cleaned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569464"/>
            <a:ext cx="411480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7472" y="2715768"/>
            <a:ext cx="347472" cy="34747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347472" y="2715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7240" y="2569464"/>
            <a:ext cx="347472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Reddit Markup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2898648"/>
            <a:ext cx="347472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/r/ and /u/ references stripped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3328416"/>
            <a:ext cx="411480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47472" y="3474720"/>
            <a:ext cx="347472" cy="34747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" y="3474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77240" y="3328416"/>
            <a:ext cx="347472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Entities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77240" y="3657600"/>
            <a:ext cx="347472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&amp;amp; &amp;lt; &amp;gt; decoded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4087368"/>
            <a:ext cx="411480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47472" y="4233672"/>
            <a:ext cx="347472" cy="34747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347472" y="42336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77240" y="4087368"/>
            <a:ext cx="347472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77240" y="4416552"/>
            <a:ext cx="347472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**, ##, [link](url) formatting removed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63440" y="1051560"/>
            <a:ext cx="4114800" cy="658368"/>
          </a:xfrm>
          <a:prstGeom prst="rect">
            <a:avLst/>
          </a:prstGeom>
          <a:solidFill>
            <a:srgbClr val="E0F2F4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36592" y="1197864"/>
            <a:ext cx="347472" cy="34747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1" name="Text 29"/>
          <p:cNvSpPr/>
          <p:nvPr/>
        </p:nvSpPr>
        <p:spPr>
          <a:xfrm>
            <a:off x="4736592" y="11978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166360" y="1051560"/>
            <a:ext cx="347472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Whitespace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166360" y="1380744"/>
            <a:ext cx="347472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Newlines and spaces normalized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63440" y="1810512"/>
            <a:ext cx="4114800" cy="658368"/>
          </a:xfrm>
          <a:prstGeom prst="rect">
            <a:avLst/>
          </a:prstGeom>
          <a:solidFill>
            <a:srgbClr val="E0F2F4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36592" y="1956816"/>
            <a:ext cx="347472" cy="34747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6" name="Text 34"/>
          <p:cNvSpPr/>
          <p:nvPr/>
        </p:nvSpPr>
        <p:spPr>
          <a:xfrm>
            <a:off x="4736592" y="19568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166360" y="1810512"/>
            <a:ext cx="347472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166360" y="2139696"/>
            <a:ext cx="347472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text standardized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663440" y="2569464"/>
            <a:ext cx="4114800" cy="658368"/>
          </a:xfrm>
          <a:prstGeom prst="rect">
            <a:avLst/>
          </a:prstGeom>
          <a:solidFill>
            <a:srgbClr val="E0F2F4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36592" y="2715768"/>
            <a:ext cx="347472" cy="34747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1" name="Text 39"/>
          <p:cNvSpPr/>
          <p:nvPr/>
        </p:nvSpPr>
        <p:spPr>
          <a:xfrm>
            <a:off x="4736592" y="2715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166360" y="2569464"/>
            <a:ext cx="347472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Punctuation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166360" y="2898648"/>
            <a:ext cx="347472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with space substitution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663440" y="3328416"/>
            <a:ext cx="4114800" cy="658368"/>
          </a:xfrm>
          <a:prstGeom prst="rect">
            <a:avLst/>
          </a:prstGeom>
          <a:solidFill>
            <a:srgbClr val="E0F2F4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736592" y="3474720"/>
            <a:ext cx="347472" cy="34747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6" name="Text 44"/>
          <p:cNvSpPr/>
          <p:nvPr/>
        </p:nvSpPr>
        <p:spPr>
          <a:xfrm>
            <a:off x="4736592" y="3474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166360" y="3328416"/>
            <a:ext cx="347472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Stopwords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166360" y="3657600"/>
            <a:ext cx="347472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150+ words removed; len&gt;2 filter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663440" y="4087368"/>
            <a:ext cx="4114800" cy="658368"/>
          </a:xfrm>
          <a:prstGeom prst="rect">
            <a:avLst/>
          </a:prstGeom>
          <a:solidFill>
            <a:srgbClr val="E0F2F4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736592" y="4233672"/>
            <a:ext cx="347472" cy="34747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1" name="Text 49"/>
          <p:cNvSpPr/>
          <p:nvPr/>
        </p:nvSpPr>
        <p:spPr>
          <a:xfrm>
            <a:off x="4736592" y="42336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166360" y="4087368"/>
            <a:ext cx="347472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5166360" y="4416552"/>
            <a:ext cx="347472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digits removed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274320" y="4617720"/>
            <a:ext cx="8595360" cy="384048"/>
          </a:xfrm>
          <a:prstGeom prst="rect">
            <a:avLst/>
          </a:prstGeom>
          <a:solidFill>
            <a:srgbClr val="0D1B2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274320" y="461772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cleaned_dataset.csv  —  5,948 records  •  9 dropped (0.15%)  •  5 columns  •  Class balance maintained ✓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4–6: EDA, Feature Engineering &amp; Model Development  (Manasa)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274320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515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Highlights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2743200" cy="36576"/>
          </a:xfrm>
          <a:prstGeom prst="rect">
            <a:avLst/>
          </a:prstGeom>
          <a:solidFill>
            <a:srgbClr val="E0F2F4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55448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Class 1 posts longest on avg (164 words)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19456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Class 3 highest variance (max 5,411 words)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83464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1,306 duplicate titles investigated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347472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Word clouds generated per class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411480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Subreddit language patterns confirmed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46120" y="1051560"/>
            <a:ext cx="2743200" cy="3749040"/>
          </a:xfrm>
          <a:prstGeom prst="rect">
            <a:avLst/>
          </a:prstGeom>
          <a:solidFill>
            <a:srgbClr val="E0F2F4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46120" y="10515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46120" y="1463040"/>
            <a:ext cx="2743200" cy="36576"/>
          </a:xfrm>
          <a:prstGeom prst="rect">
            <a:avLst/>
          </a:prstGeom>
          <a:solidFill>
            <a:srgbClr val="C8E6EA"/>
          </a:solidFill>
          <a:ln/>
        </p:spPr>
      </p:sp>
      <p:sp>
        <p:nvSpPr>
          <p:cNvPr id="15" name="Text 13"/>
          <p:cNvSpPr/>
          <p:nvPr/>
        </p:nvSpPr>
        <p:spPr>
          <a:xfrm>
            <a:off x="3337560" y="15544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clean_combined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37560" y="185623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+ body (primary)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37560" y="21945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37560" y="249631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Unigrams + bigrams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37560" y="28346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word_count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37560" y="313639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length feature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37560" y="34747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text_missing_flag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337560" y="377647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null indicator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37560" y="41148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tokens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37560" y="441655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text, max 512 tokens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17920" y="1051560"/>
            <a:ext cx="2651760" cy="3749040"/>
          </a:xfrm>
          <a:prstGeom prst="rect">
            <a:avLst/>
          </a:prstGeom>
          <a:solidFill>
            <a:srgbClr val="0D1B2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217920" y="10515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Built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217920" y="1463040"/>
            <a:ext cx="2651760" cy="36576"/>
          </a:xfrm>
          <a:prstGeom prst="rect">
            <a:avLst/>
          </a:prstGeom>
          <a:solidFill>
            <a:srgbClr val="1A4A5A"/>
          </a:solidFill>
          <a:ln/>
        </p:spPr>
      </p:sp>
      <p:sp>
        <p:nvSpPr>
          <p:cNvPr id="28" name="Text 26"/>
          <p:cNvSpPr/>
          <p:nvPr/>
        </p:nvSpPr>
        <p:spPr>
          <a:xfrm>
            <a:off x="6309360" y="16002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LinearSVC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309360" y="201168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model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0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CalibratedClassifierCV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0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probability scores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309360" y="2926080"/>
            <a:ext cx="2468880" cy="36576"/>
          </a:xfrm>
          <a:prstGeom prst="rect">
            <a:avLst/>
          </a:prstGeom>
          <a:solidFill>
            <a:srgbClr val="1A4A5A"/>
          </a:solidFill>
          <a:ln/>
        </p:spPr>
      </p:sp>
      <p:sp>
        <p:nvSpPr>
          <p:cNvPr id="31" name="Text 29"/>
          <p:cNvSpPr/>
          <p:nvPr/>
        </p:nvSpPr>
        <p:spPr>
          <a:xfrm>
            <a:off x="6309360" y="30175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fine-tuned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309360" y="342900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bert-base-uncased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0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 Transformers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0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training loop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7: Evaluation — Sensitivity, Specificity &amp; Results  (Aleena)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2560320" cy="1828800"/>
          </a:xfrm>
          <a:prstGeom prst="rect">
            <a:avLst/>
          </a:prstGeom>
          <a:solidFill>
            <a:srgbClr val="0D1B2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14300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81.3%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274320" y="21488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0C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Accuracy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017520" y="1051560"/>
            <a:ext cx="2560320" cy="1828800"/>
          </a:xfrm>
          <a:prstGeom prst="rect">
            <a:avLst/>
          </a:prstGeom>
          <a:solidFill>
            <a:srgbClr val="0D1B2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017520" y="114300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81.4%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3017520" y="21488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0C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F1 Score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760720" y="1051560"/>
            <a:ext cx="3108960" cy="1828800"/>
          </a:xfrm>
          <a:prstGeom prst="rect">
            <a:avLst/>
          </a:prstGeom>
          <a:solidFill>
            <a:srgbClr val="028090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0" y="10972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760720" y="182880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&gt; Specificity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(missing at-risk cases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carries highest clinical cost)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4320" y="3063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 Applied: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429000"/>
          <a:ext cx="5303520" cy="146304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 Matters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Sensitivity (Recall)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Don't miss at-risk individuals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Avoid false alarms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 F1-Score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Balanced across all 5 classes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AUC-ROC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Overall discriminative power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5760720" y="3063240"/>
            <a:ext cx="3108960" cy="1828800"/>
          </a:xfrm>
          <a:prstGeom prst="rect">
            <a:avLst/>
          </a:prstGeom>
          <a:solidFill>
            <a:srgbClr val="E0F2F4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760720" y="31089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Results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760720" y="352044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Manasa's notebook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(Member_2_Model_Development)</a:t>
            </a:r>
            <a:endParaRPr lang="en-US" sz="1100" dirty="0"/>
          </a:p>
          <a:p>
            <a:pPr marL="0" indent="0" algn="ctr">
              <a:buNone/>
            </a:pP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Expected: outperforms SVM,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especially on short posts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context-dependent language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8: Explainability — LIME, Word Clouds &amp; TF-IDF  (Aleena)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1572768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1572768" cy="548640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51560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0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66420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words: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920240"/>
            <a:ext cx="1417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stress, stressful,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meditation, study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993392" y="1051560"/>
            <a:ext cx="1572768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993392" y="1051560"/>
            <a:ext cx="1572768" cy="5486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1993392" y="1051560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1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Depression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084832" y="166420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words: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084832" y="1920240"/>
            <a:ext cx="1417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depression, depressed,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suicide, die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712464" y="1051560"/>
            <a:ext cx="1572768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712464" y="1051560"/>
            <a:ext cx="1572768" cy="54864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16" name="Text 14"/>
          <p:cNvSpPr/>
          <p:nvPr/>
        </p:nvSpPr>
        <p:spPr>
          <a:xfrm>
            <a:off x="3712464" y="1051560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2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Bipolar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803904" y="166420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words: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803904" y="1920240"/>
            <a:ext cx="1417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bipolar, manic,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episode, lithium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31536" y="1051560"/>
            <a:ext cx="1572768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31536" y="1051560"/>
            <a:ext cx="1572768" cy="54864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21" name="Text 19"/>
          <p:cNvSpPr/>
          <p:nvPr/>
        </p:nvSpPr>
        <p:spPr>
          <a:xfrm>
            <a:off x="5431536" y="1051560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3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Personality Dis.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522976" y="166420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words: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522976" y="1920240"/>
            <a:ext cx="1417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avpd, social,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avoidance, people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150608" y="1051560"/>
            <a:ext cx="1572768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150608" y="1051560"/>
            <a:ext cx="1572768" cy="548640"/>
          </a:xfrm>
          <a:prstGeom prst="rect">
            <a:avLst/>
          </a:prstGeom>
          <a:solidFill>
            <a:srgbClr val="D35400"/>
          </a:solidFill>
          <a:ln/>
        </p:spPr>
      </p:sp>
      <p:sp>
        <p:nvSpPr>
          <p:cNvPr id="26" name="Text 24"/>
          <p:cNvSpPr/>
          <p:nvPr/>
        </p:nvSpPr>
        <p:spPr>
          <a:xfrm>
            <a:off x="7150608" y="1051560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4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Anxiety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242048" y="166420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words: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242048" y="1920240"/>
            <a:ext cx="1417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anxiety, panic,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ocd, heart, chest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74320" y="3794760"/>
            <a:ext cx="2743200" cy="1143000"/>
          </a:xfrm>
          <a:prstGeom prst="rect">
            <a:avLst/>
          </a:prstGeom>
          <a:solidFill>
            <a:srgbClr val="0D1B2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65760" y="3794760"/>
            <a:ext cx="256032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65760" y="4206240"/>
            <a:ext cx="256032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0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Word-level explanation for each individual prediction. Shows which words pushed the model toward each class.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46120" y="3794760"/>
            <a:ext cx="2743200" cy="1143000"/>
          </a:xfrm>
          <a:prstGeom prst="rect">
            <a:avLst/>
          </a:prstGeom>
          <a:solidFill>
            <a:srgbClr val="0D1B2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337560" y="3794760"/>
            <a:ext cx="256032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Weights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337560" y="4206240"/>
            <a:ext cx="256032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0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feature importance from SVM coefficients. Reveals top discriminating words per class.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217920" y="3794760"/>
            <a:ext cx="2743200" cy="1143000"/>
          </a:xfrm>
          <a:prstGeom prst="rect">
            <a:avLst/>
          </a:prstGeom>
          <a:solidFill>
            <a:srgbClr val="0D1B2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309360" y="3794760"/>
            <a:ext cx="256032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Clouds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309360" y="4206240"/>
            <a:ext cx="256032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0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summary of class-specific vocabulary. Makes patterns immediately interpretable.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9: Streamlit Deployment  (Aleena)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11480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73152" cy="14173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731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234440" y="12801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Input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78308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enters any social media post text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097280"/>
            <a:ext cx="411480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097280"/>
            <a:ext cx="73152" cy="14173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097280"/>
            <a:ext cx="731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623560" y="12801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23560" y="178308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into one of 5 mental health categories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2697480"/>
            <a:ext cx="411480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697480"/>
            <a:ext cx="73152" cy="14173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697480"/>
            <a:ext cx="731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234440" y="28803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38328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confidence score for predicted class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2697480"/>
            <a:ext cx="411480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2697480"/>
            <a:ext cx="73152" cy="14173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2697480"/>
            <a:ext cx="731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5623560" y="28803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Classes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623560" y="338328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bars for all 5 classes displayed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" y="4343400"/>
            <a:ext cx="5029200" cy="594360"/>
          </a:xfrm>
          <a:prstGeom prst="rect">
            <a:avLst/>
          </a:prstGeom>
          <a:solidFill>
            <a:srgbClr val="E0F2F4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74320" y="434340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TF-IDF (unigrams + bigrams)  +  LinearSVC  +  CalibratedClassifierCV  —  Accuracy: 81.3%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0" y="4343400"/>
            <a:ext cx="3383280" cy="594360"/>
          </a:xfrm>
          <a:prstGeom prst="rect">
            <a:avLst/>
          </a:prstGeom>
          <a:solidFill>
            <a:srgbClr val="0D1B2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486400" y="434340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Live Demo: streamlit.app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0"/>
            <a:ext cx="201168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" name="Shape 2"/>
          <p:cNvSpPr/>
          <p:nvPr/>
        </p:nvSpPr>
        <p:spPr>
          <a:xfrm>
            <a:off x="7680960" y="1097280"/>
            <a:ext cx="1463040" cy="2926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Shape 3"/>
          <p:cNvSpPr/>
          <p:nvPr/>
        </p:nvSpPr>
        <p:spPr>
          <a:xfrm>
            <a:off x="7863840" y="1645920"/>
            <a:ext cx="914400" cy="9144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01168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Conclusions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48640" y="960120"/>
            <a:ext cx="6400800" cy="530352"/>
          </a:xfrm>
          <a:prstGeom prst="rect">
            <a:avLst/>
          </a:prstGeom>
          <a:solidFill>
            <a:srgbClr val="07121E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" y="1005840"/>
            <a:ext cx="329184" cy="3291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0058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24128" y="960120"/>
            <a:ext cx="5806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0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SVM achieves 81.3% accuracy on 5-class classification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1581912"/>
            <a:ext cx="6400800" cy="530352"/>
          </a:xfrm>
          <a:prstGeom prst="rect">
            <a:avLst/>
          </a:prstGeom>
          <a:solidFill>
            <a:srgbClr val="07121E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94360" y="1627632"/>
            <a:ext cx="329184" cy="3291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16276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24128" y="1581912"/>
            <a:ext cx="5806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0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fine-tuning outperforms SVM on context-heavy posts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2203704"/>
            <a:ext cx="6400800" cy="530352"/>
          </a:xfrm>
          <a:prstGeom prst="rect">
            <a:avLst/>
          </a:prstGeom>
          <a:solidFill>
            <a:srgbClr val="07121E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4360" y="2249424"/>
            <a:ext cx="329184" cy="3291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22494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24128" y="2203704"/>
            <a:ext cx="5806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0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Class-specific vocabulary is strongly discriminative (LIME confirms)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2825496"/>
            <a:ext cx="6400800" cy="530352"/>
          </a:xfrm>
          <a:prstGeom prst="rect">
            <a:avLst/>
          </a:prstGeom>
          <a:solidFill>
            <a:srgbClr val="07121E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4360" y="2871216"/>
            <a:ext cx="329184" cy="3291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28712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24128" y="2825496"/>
            <a:ext cx="5806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0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Near-balanced dataset enables reliable macro-F1 reporting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3447288"/>
            <a:ext cx="6400800" cy="530352"/>
          </a:xfrm>
          <a:prstGeom prst="rect">
            <a:avLst/>
          </a:prstGeom>
          <a:solidFill>
            <a:srgbClr val="07121E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94360" y="3493008"/>
            <a:ext cx="329184" cy="3291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" y="34930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24128" y="3447288"/>
            <a:ext cx="5806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0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 makes model accessible to non-technical users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4069080"/>
            <a:ext cx="6400800" cy="530352"/>
          </a:xfrm>
          <a:prstGeom prst="rect">
            <a:avLst/>
          </a:prstGeom>
          <a:solidFill>
            <a:srgbClr val="07121E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94360" y="4114800"/>
            <a:ext cx="329184" cy="3291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9" name="Text 27"/>
          <p:cNvSpPr/>
          <p:nvPr/>
        </p:nvSpPr>
        <p:spPr>
          <a:xfrm>
            <a:off x="594360" y="4114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24128" y="4069080"/>
            <a:ext cx="5806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0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 (LIME/SHAP) critical for clinical trust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8640" y="47548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This tool supports clinical decision-making — it does not replace professional diagnosis.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894</Words>
  <Application>Microsoft Office PowerPoint</Application>
  <PresentationFormat>On-screen Show (16:9)</PresentationFormat>
  <Paragraphs>231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Mental Health Status Classification from Social Media Text</dc:title>
  <dc:subject>PptxGenJS Presentation</dc:subject>
  <dc:creator>PptxGenJS</dc:creator>
  <cp:lastModifiedBy>Manasa Muraleedharan E</cp:lastModifiedBy>
  <cp:revision>3</cp:revision>
  <dcterms:created xsi:type="dcterms:W3CDTF">2026-05-16T08:44:23Z</dcterms:created>
  <dcterms:modified xsi:type="dcterms:W3CDTF">2026-05-16T08:53:01Z</dcterms:modified>
</cp:coreProperties>
</file>